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~0:30. Introduce title, course, RQ,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~1:00. Keep TCM explanation simple and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~0:45. Read the RQ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~0:55. Stress adaptation vs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~0:55.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~0:55. End of first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~1:00. Point to the public dataset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~1:10. Emphasize shared split and no test peeking.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~0:55. Distinguish validation selection from locked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~0:55. Professor cares about novelty/deviation—speak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TIME ~1:00. End on RQ +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640080" cy="640080"/>
          </a:xfrm>
          <a:prstGeom prst="roundRect">
            <a:avLst/>
          </a:prstGeom>
          <a:solidFill>
            <a:srgbClr val="FFFCF7"/>
          </a:solidFill>
          <a:ln w="19050">
            <a:solidFill>
              <a:srgbClr val="A6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A6483E"/>
                </a:solidFill>
                <a:latin typeface="Calibri"/>
              </a:rPr>
              <a:t>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8016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26653"/>
                </a:solidFill>
                <a:latin typeface="Calibri"/>
              </a:rPr>
              <a:t>中医辨证 · 机器学习研究</a:t>
            </a:r>
          </a:p>
          <a:p>
            <a:r>
              <a:rPr sz="3200" b="1">
                <a:solidFill>
                  <a:srgbClr val="27362D"/>
                </a:solidFill>
                <a:latin typeface="Calibri"/>
              </a:rPr>
              <a:t>Traditional Chinese Medicine Syndrome Classification</a:t>
            </a:r>
          </a:p>
          <a:p>
            <a:r>
              <a:rPr sz="2600" b="1">
                <a:solidFill>
                  <a:srgbClr val="27362D"/>
                </a:solidFill>
                <a:latin typeface="Calibri"/>
              </a:rPr>
              <a:t>Using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3832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956F4D"/>
                </a:solidFill>
                <a:latin typeface="Calibri"/>
              </a:rPr>
              <a:t>DS 340W Midterm · Penn State University</a:t>
            </a:r>
          </a:p>
          <a:p>
            <a:r>
              <a:rPr sz="1600" b="0">
                <a:solidFill>
                  <a:srgbClr val="27362D"/>
                </a:solidFill>
                <a:latin typeface="Calibri"/>
              </a:rPr>
              <a:t>Q: How accurately can ML models classify TCM syndromes from symptoms and clinical data?</a:t>
            </a:r>
          </a:p>
          <a:p>
            <a:r>
              <a:rPr sz="1000" b="0">
                <a:solidFill>
                  <a:srgbClr val="27362D"/>
                </a:solidFill>
                <a:latin typeface="Calibri"/>
              </a:rPr>
              <a:t/>
            </a:r>
          </a:p>
          <a:p>
            <a:r>
              <a:rPr sz="1500" b="0">
                <a:solidFill>
                  <a:srgbClr val="426653"/>
                </a:solidFill>
                <a:latin typeface="Calibri"/>
              </a:rPr>
              <a:t>GitHub: github.com/shiyx1224-shi/tcm-project</a:t>
            </a:r>
          </a:p>
          <a:p>
            <a:r>
              <a:rPr sz="1500" b="0">
                <a:solidFill>
                  <a:srgbClr val="426653"/>
                </a:solidFill>
                <a:latin typeface="Calibri"/>
              </a:rPr>
              <a:t>Website: shiyx1224-shi.github.io/tcm-project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1 · ~0:30 · Section 1 — Background &amp; parent papers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What is TCM syndrome differentiation?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Background for data science classmates (not TCM specialists)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Traditional Chinese Medicine (TCM) reads the whole person—not only a single disease name.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Syndrome differentiation (辨证) groups symptoms into patterns such as qi deficiency or damp-heat.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Clinicians use the four examinations: inspection, listening/smelling, inquiry, palpation (望闻问切).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Hard for ML: free-text notes, similar syndromes, sparse tongue/pulse signs, many rare labels.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Machine learning lets us measure how well clinical text maps to syndrome labels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2 · ~1:00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Research question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What I am trying to discover—not just “train an AI”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13258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7362D"/>
                </a:solidFill>
                <a:latin typeface="Calibri"/>
              </a:rPr>
              <a:t>How accurately can machine learning models classify Traditional Chinese Medicine (TCM) syndromes based on patients’ symptoms and clinical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Motivation: complex clinical narratives, 148 syndrome classes, and long-tailed rare labels.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I want to know whether simple TF-IDF + classical ML can compete with deeper paper-inspired models.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I also need a public, citable dataset so another student can reproduce the study.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3 · ~0:45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Parent paper 1 — Gong et al.,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Multi-label Deep Forest + biomedical text mining · Frontiers in Genetics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Goal: predict TCM syndromes when multiple patterns can co-exist (multi-label).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Method: symptom mining + Pearson-style feature ranking + multi-label deep forest.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Why it matters: feature selection and set-valued syndrome outputs matter in TCM ML.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Influence on me: I adapted Pearson-inspired / importance-based feature-selection experiments.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Critical limit: my TCM-SD benchmark is single-label multiclass—not multi-label—so I do not claim a full MLDF reproduction.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4 · ~0:55 · doi:10.3389/fgene.2023.1272016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Parent paper 2 — Huang et al.,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Cross-feature generation by CNN (Cross-FGCNN) · JMIR Medical Informatics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Goal: classify dysmenorrhea syndromes from sparse four-examination EMR fields.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Method: 60 structured fields → cross network + FGCNN for feature interactions.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Insight: TCM signs interact—independent flat features miss field structure.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Influence on me: AdaptedCrossFGCNN on free-text virtual fields (not their private EMR table).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Honest stance: adaptation under data/compute constraints—not an exact replica.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5 · ~0:55 · doi:10.2196/29290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Parent paper 3 — Chen et al., 2024 + how the three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Holistic deep learning · Integrative Medicine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11880" cy="15087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26653"/>
                </a:solidFill>
                <a:latin typeface="Calibri"/>
              </a:rPr>
              <a:t>Gong</a:t>
            </a:r>
          </a:p>
          <a:p>
            <a:r>
              <a:rPr sz="1500" b="0">
                <a:solidFill>
                  <a:srgbClr val="27362D"/>
                </a:solidFill>
                <a:latin typeface="Calibri"/>
              </a:rPr>
              <a:t>Feature ranking &amp;
multi-label framing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15087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26653"/>
                </a:solidFill>
                <a:latin typeface="Calibri"/>
              </a:rPr>
              <a:t>Huang</a:t>
            </a:r>
          </a:p>
          <a:p>
            <a:r>
              <a:rPr sz="1500" b="0">
                <a:solidFill>
                  <a:srgbClr val="27362D"/>
                </a:solidFill>
                <a:latin typeface="Calibri"/>
              </a:rPr>
              <a:t>CNN + feature
crosses /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80160"/>
            <a:ext cx="3611880" cy="15087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26653"/>
                </a:solidFill>
                <a:latin typeface="Calibri"/>
              </a:rPr>
              <a:t>Chen</a:t>
            </a:r>
          </a:p>
          <a:p>
            <a:r>
              <a:rPr sz="1500" b="0">
                <a:solidFill>
                  <a:srgbClr val="27362D"/>
                </a:solidFill>
                <a:latin typeface="Calibri"/>
              </a:rPr>
              <a:t>BERT + CNN over
clinical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Chen: deep learning for holistic syndrome prediction with BERT-style text + CNN heads.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My synthesis: place adapted Gong/Huang/Chen ideas on one public multiclass benchmark (TCM-SD).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Then compare them fairly against Random Forest, Logistic Regression, and Linear SVM.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6 · ~0:55 · Transition to my methods  ·  doi:10.1016/j.imr.2023.101019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My dataset &amp; preprocessing — TCM-SD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Public link: https://github.com/Borororo/ZY-BERT  ·  License: CC BY-NC-SA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54,152 clinical records → 148 norm_syndrome labels (Ren et al., CCL 2022).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Inputs: chief_complaint + description + detection. Target: one syndrome (multiclass).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Leakage-aware split: 70% / 10% / 20% by patient + clinical-text fingerprint (train 37,955 / val 5,420 / test 10,777).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Train-only char TF-IDF + lengths; SelectKBest(χ², k=5000) fit on train only.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Long-tailed labels → report micro-F1 and macro-F1, not accuracy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7 · ~1:00 · Section 2 — My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My machine learning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Baselines first, then parent-paper–inspired adaptations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1783080" cy="731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7362D"/>
                </a:solidFill>
                <a:latin typeface="Calibri"/>
              </a:rP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280160"/>
            <a:ext cx="1783080" cy="731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444752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7362D"/>
                </a:solidFill>
                <a:latin typeface="Calibri"/>
              </a:rPr>
              <a:t>Preprocess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1783080" cy="731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44752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7362D"/>
                </a:solidFill>
                <a:latin typeface="Calibri"/>
              </a:rPr>
              <a:t>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80160"/>
            <a:ext cx="1783080" cy="731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44752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7362D"/>
                </a:solidFill>
                <a:latin typeface="Calibri"/>
              </a:rPr>
              <a:t>Train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1783080" cy="731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44752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7362D"/>
                </a:solidFill>
                <a:latin typeface="Calibri"/>
              </a:rPr>
              <a:t>Validate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280160"/>
            <a:ext cx="1783080" cy="731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956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1444752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7362D"/>
                </a:solidFill>
                <a:latin typeface="Calibri"/>
              </a:rPr>
              <a:t>Test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286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Classical baselines (same matrices): Random Forest, Logistic Regression, Linear SVM.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Feature-selection ablation: variance truncate vs MI / RF-importance / Gong-inspired PCC filter.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Deep adaptations: Huang-inspired Cross-FGCNN; Chen-inspired frozen Chinese BERT + TextCNN.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Protocol: choose by validation micro-F1 only; score held-out test once.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8 · ~1:10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Verified results (from repository artifacts)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model_comparison.csv · final_test_metrics.json · independently re-scored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62D"/>
                </a:solidFill>
                <a:latin typeface="Calibri"/>
              </a:rPr>
              <a:t>Model (validation)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62D"/>
                </a:solidFill>
                <a:latin typeface="Calibri"/>
              </a:rPr>
              <a:t>Acc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62D"/>
                </a:solidFill>
                <a:latin typeface="Calibri"/>
              </a:rPr>
              <a:t>Micro-F1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2344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62D"/>
                </a:solidFill>
                <a:latin typeface="Calibri"/>
              </a:rPr>
              <a:t>Macro-F1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26653"/>
                </a:solidFill>
                <a:latin typeface="Calibri"/>
              </a:rPr>
              <a:t>SVM (LinearSVC) ★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81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26653"/>
                </a:solidFill>
                <a:latin typeface="Calibri"/>
              </a:rPr>
              <a:t>0.7517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581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26653"/>
                </a:solidFill>
                <a:latin typeface="Calibri"/>
              </a:rPr>
              <a:t>0.7517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15819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26653"/>
                </a:solidFill>
                <a:latin typeface="Calibri"/>
              </a:rPr>
              <a:t>0.4745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93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2938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0.7314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92938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0.7314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192938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0.4312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276856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27685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0.5120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27685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0.5120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27685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0.3316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2432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Chen-inspired BERT+CNN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243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0.5007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6243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0.5007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6243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0.2521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718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Huang-inspired CNN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971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0.4635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971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0.4635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9718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7362D"/>
                </a:solidFill>
                <a:latin typeface="Calibri"/>
              </a:rPr>
              <a:t>0.2112</a:t>
            </a:r>
          </a:p>
        </p:txBody>
      </p:sp>
      <p:pic>
        <p:nvPicPr>
          <p:cNvPr id="30" name="Picture 2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20440"/>
            <a:ext cx="5262196" cy="2606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83680" y="36118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26653"/>
                </a:solidFill>
                <a:latin typeface="Calibri"/>
              </a:rPr>
              <a:t>Held-out TEST (n=10,777)</a:t>
            </a:r>
          </a:p>
          <a:p>
            <a:r>
              <a:rPr sz="1500" b="1">
                <a:solidFill>
                  <a:srgbClr val="27362D"/>
                </a:solidFill>
                <a:latin typeface="Calibri"/>
              </a:rPr>
              <a:t>Accuracy / Micro-F1 = 0.7548</a:t>
            </a:r>
          </a:p>
          <a:p>
            <a:r>
              <a:rPr sz="1500" b="0">
                <a:solidFill>
                  <a:srgbClr val="27362D"/>
                </a:solidFill>
                <a:latin typeface="Calibri"/>
              </a:rPr>
              <a:t>Macro-F1 = 0.4992</a:t>
            </a:r>
          </a:p>
          <a:p>
            <a:r>
              <a:rPr sz="1500" b="0">
                <a:solidFill>
                  <a:srgbClr val="27362D"/>
                </a:solidFill>
                <a:latin typeface="Calibri"/>
              </a:rPr>
              <a:t/>
            </a:r>
          </a:p>
          <a:p>
            <a:r>
              <a:rPr sz="1500" b="0">
                <a:solidFill>
                  <a:srgbClr val="27362D"/>
                </a:solidFill>
                <a:latin typeface="Calibri"/>
              </a:rPr>
              <a:t>Deep adaptations did not beat TF-IDF SVM/RF.</a:t>
            </a:r>
          </a:p>
          <a:p>
            <a:r>
              <a:rPr sz="1500" b="0">
                <a:solidFill>
                  <a:srgbClr val="27362D"/>
                </a:solidFill>
                <a:latin typeface="Calibri"/>
              </a:rPr>
              <a:t>Feature selection: mixed results.</a:t>
            </a:r>
          </a:p>
          <a:p>
            <a:r>
              <a:rPr sz="1500" b="1">
                <a:solidFill>
                  <a:srgbClr val="A6483E"/>
                </a:solidFill>
                <a:latin typeface="Calibri"/>
              </a:rPr>
              <a:t>Teaching website ≠ TCM-SD classifier.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9 · ~0:55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My contribution vs the parent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What is novel here—and what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Shared public TCM-SD benchmark for classical ML + Gong/Huang/Chen–inspired adaptations.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Reproducible leakage-aware pipeline: split → train-only features → validation select → one test.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Empirical finding: Linear SVM (~75.5% test micro-F1) beat adapted deep models on this setup.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Honest scope: multiclass (not multi-label); adaptations disclosed; no SOTA claims.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Website: Research Results/About for ML evidence; Syndrome Explorer is an educational demo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10 · ~0:55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62D"/>
                </a:solidFill>
                <a:latin typeface="Calibri"/>
              </a:rPr>
              <a:t>Future work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26653"/>
                </a:solidFill>
                <a:latin typeface="Calibri"/>
              </a:rPr>
              <a:t>Closing the loop on the 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Next: improve rare-class performance (macro-F1 ≈ 0.50); try hierarchical TCM label constraints.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Richer Chinese clinical NLP; probability calibration; error-driven dictionary expansion.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If a licensed multi-label corpus appears, revisit Gong-style multi-label methods properly.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So far: on public TCM-SD text, classical margin models reach ~75% micro-F1 across 148 syndromes,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7362D"/>
                </a:solidFill>
                <a:latin typeface="Calibri"/>
              </a:rPr>
              <a:t>•  while adapted deep models lag—and rare syndromes remain the hard frontier.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834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26653"/>
                </a:solidFill>
                <a:latin typeface="Calibri"/>
              </a:rPr>
              <a:t>Thank you — questions welcome.  github.com/shiyx1224-shi/tcm-project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56F4D"/>
                </a:solidFill>
                <a:latin typeface="Calibri"/>
              </a:rPr>
              <a:t>Slide 11 · ~1:00 · End ≈ 10:00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